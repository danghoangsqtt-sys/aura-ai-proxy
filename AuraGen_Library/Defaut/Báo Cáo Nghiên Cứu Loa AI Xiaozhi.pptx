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Roboto Slab" panose="020B0604020202020204" charset="0"/>
      <p:regular r:id="rId12"/>
      <p:bold r:id="rId13"/>
    </p:embeddedFont>
    <p:embeddedFont>
      <p:font typeface="Calibri" panose="020F0502020204030204" pitchFamily="34" charset="0"/>
      <p:regular r:id="rId14"/>
      <p:bold r:id="rId15"/>
      <p:italic r:id="rId16"/>
      <p:boldItalic r:id="rId17"/>
    </p:embeddedFont>
    <p:embeddedFont>
      <p:font typeface="Inter"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23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3048000" y="4218533"/>
            <a:ext cx="6096000" cy="1491555"/>
          </a:xfrm>
          <a:prstGeom prst="rect">
            <a:avLst/>
          </a:prstGeom>
          <a:noFill/>
          <a:ln>
            <a:noFill/>
          </a:ln>
        </p:spPr>
      </p:pic>
      <p:sp>
        <p:nvSpPr>
          <p:cNvPr id="85" name="Google Shape;85;p13"/>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2000488" y="1224111"/>
            <a:ext cx="8191023" cy="1772793"/>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dirty="0">
                <a:solidFill>
                  <a:srgbClr val="00264D"/>
                </a:solidFill>
                <a:latin typeface="Roboto Slab"/>
                <a:ea typeface="Roboto Slab"/>
                <a:cs typeface="Roboto Slab"/>
                <a:sym typeface="Roboto Slab"/>
              </a:rPr>
              <a:t>NGHIÊN CỨU &amp; ỨNG DỤNG</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264D"/>
                </a:solidFill>
                <a:latin typeface="Roboto Slab"/>
                <a:ea typeface="Roboto Slab"/>
                <a:cs typeface="Roboto Slab"/>
                <a:sym typeface="Roboto Slab"/>
              </a:rPr>
              <a:t> LOA </a:t>
            </a:r>
            <a:r>
              <a:rPr lang="en-US" sz="4800" b="1" i="0" u="none" strike="noStrike" cap="none" dirty="0" smtClean="0">
                <a:solidFill>
                  <a:srgbClr val="00264D"/>
                </a:solidFill>
                <a:latin typeface="Roboto Slab"/>
                <a:ea typeface="Roboto Slab"/>
                <a:cs typeface="Roboto Slab"/>
                <a:sym typeface="Roboto Slab"/>
              </a:rPr>
              <a:t>AI </a:t>
            </a:r>
            <a:r>
              <a:rPr lang="en-US" sz="4800" b="1" dirty="0" smtClean="0">
                <a:solidFill>
                  <a:srgbClr val="00264D"/>
                </a:solidFill>
                <a:latin typeface="Roboto Slab"/>
                <a:ea typeface="Roboto Slab"/>
                <a:cs typeface="Roboto Slab"/>
                <a:sym typeface="Roboto Slab"/>
              </a:rPr>
              <a:t>IOT - MCP</a:t>
            </a:r>
            <a:endParaRPr dirty="0"/>
          </a:p>
        </p:txBody>
      </p:sp>
      <p:sp>
        <p:nvSpPr>
          <p:cNvPr id="87" name="Google Shape;87;p13"/>
          <p:cNvSpPr txBox="1"/>
          <p:nvPr/>
        </p:nvSpPr>
        <p:spPr>
          <a:xfrm>
            <a:off x="2195512" y="2877591"/>
            <a:ext cx="7800975"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1" u="none" strike="noStrike" cap="none" dirty="0" err="1">
                <a:solidFill>
                  <a:srgbClr val="555555"/>
                </a:solidFill>
                <a:latin typeface="Inter"/>
                <a:ea typeface="Inter"/>
                <a:cs typeface="Inter"/>
                <a:sym typeface="Inter"/>
              </a:rPr>
              <a:t>Tích</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hợp</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giao</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thức</a:t>
            </a:r>
            <a:r>
              <a:rPr lang="en-US" sz="1800" b="0" i="1" u="none" strike="noStrike" cap="none" dirty="0">
                <a:solidFill>
                  <a:srgbClr val="555555"/>
                </a:solidFill>
                <a:latin typeface="Inter"/>
                <a:ea typeface="Inter"/>
                <a:cs typeface="Inter"/>
                <a:sym typeface="Inter"/>
              </a:rPr>
              <a:t> MCP </a:t>
            </a:r>
            <a:r>
              <a:rPr lang="en-US" sz="1800" b="0" i="1" u="none" strike="noStrike" cap="none" dirty="0" err="1">
                <a:solidFill>
                  <a:srgbClr val="555555"/>
                </a:solidFill>
                <a:latin typeface="Inter"/>
                <a:ea typeface="Inter"/>
                <a:cs typeface="Inter"/>
                <a:sym typeface="Inter"/>
              </a:rPr>
              <a:t>trong</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Giáo</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dục</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Đào</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tạo</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và</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Hệ</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thống</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Nhà</a:t>
            </a:r>
            <a:r>
              <a:rPr lang="en-US" sz="1800" b="0" i="1" u="none" strike="noStrike" cap="none" dirty="0">
                <a:solidFill>
                  <a:srgbClr val="555555"/>
                </a:solidFill>
                <a:latin typeface="Inter"/>
                <a:ea typeface="Inter"/>
                <a:cs typeface="Inter"/>
                <a:sym typeface="Inter"/>
              </a:rPr>
              <a:t> </a:t>
            </a:r>
            <a:r>
              <a:rPr lang="en-US" sz="1800" b="0" i="1" u="none" strike="noStrike" cap="none" dirty="0" err="1">
                <a:solidFill>
                  <a:srgbClr val="555555"/>
                </a:solidFill>
                <a:latin typeface="Inter"/>
                <a:ea typeface="Inter"/>
                <a:cs typeface="Inter"/>
                <a:sym typeface="Inter"/>
              </a:rPr>
              <a:t>thông</a:t>
            </a:r>
            <a:r>
              <a:rPr lang="en-US" sz="1800" b="0" i="1" u="none" strike="noStrike" cap="none" dirty="0">
                <a:solidFill>
                  <a:srgbClr val="555555"/>
                </a:solidFill>
                <a:latin typeface="Inter"/>
                <a:ea typeface="Inter"/>
                <a:cs typeface="Inter"/>
                <a:sym typeface="Inter"/>
              </a:rPr>
              <a:t> minh</a:t>
            </a:r>
            <a:endParaRPr dirty="0"/>
          </a:p>
        </p:txBody>
      </p:sp>
      <p:sp>
        <p:nvSpPr>
          <p:cNvPr id="88" name="Google Shape;88;p13"/>
          <p:cNvSpPr txBox="1"/>
          <p:nvPr/>
        </p:nvSpPr>
        <p:spPr>
          <a:xfrm>
            <a:off x="3296516" y="4486789"/>
            <a:ext cx="24955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dirty="0">
                <a:solidFill>
                  <a:srgbClr val="B38600"/>
                </a:solidFill>
                <a:latin typeface="Roboto Slab"/>
                <a:ea typeface="Roboto Slab"/>
                <a:cs typeface="Roboto Slab"/>
                <a:sym typeface="Roboto Slab"/>
              </a:rPr>
              <a:t>THƯỢNG ÚY, CỬ NHÂN</a:t>
            </a:r>
            <a:endParaRPr dirty="0"/>
          </a:p>
        </p:txBody>
      </p:sp>
      <p:sp>
        <p:nvSpPr>
          <p:cNvPr id="89" name="Google Shape;89;p13"/>
          <p:cNvSpPr txBox="1"/>
          <p:nvPr/>
        </p:nvSpPr>
        <p:spPr>
          <a:xfrm>
            <a:off x="5394902" y="4468240"/>
            <a:ext cx="3897746"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a:solidFill>
                  <a:srgbClr val="00264D"/>
                </a:solidFill>
                <a:latin typeface="Inter"/>
                <a:ea typeface="Inter"/>
                <a:cs typeface="Inter"/>
                <a:sym typeface="Inter"/>
              </a:rPr>
              <a:t>LÊ BÁ ĐĂNG HOÀNG</a:t>
            </a:r>
            <a:endParaRPr dirty="0"/>
          </a:p>
        </p:txBody>
      </p:sp>
      <p:sp>
        <p:nvSpPr>
          <p:cNvPr id="90" name="Google Shape;90;p13"/>
          <p:cNvSpPr txBox="1"/>
          <p:nvPr/>
        </p:nvSpPr>
        <p:spPr>
          <a:xfrm>
            <a:off x="4848224" y="4978661"/>
            <a:ext cx="2495550" cy="39395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0" i="0" u="none" strike="noStrike" cap="none" dirty="0" err="1">
                <a:solidFill>
                  <a:srgbClr val="666666"/>
                </a:solidFill>
                <a:latin typeface="Inter"/>
                <a:ea typeface="Inter"/>
                <a:cs typeface="Inter"/>
                <a:sym typeface="Inter"/>
              </a:rPr>
              <a:t>Tiến</a:t>
            </a:r>
            <a:r>
              <a:rPr lang="en-US" sz="1600" b="0" i="0" u="none" strike="noStrike" cap="none" dirty="0">
                <a:solidFill>
                  <a:srgbClr val="666666"/>
                </a:solidFill>
                <a:latin typeface="Inter"/>
                <a:ea typeface="Inter"/>
                <a:cs typeface="Inter"/>
                <a:sym typeface="Inter"/>
              </a:rPr>
              <a:t> </a:t>
            </a:r>
            <a:r>
              <a:rPr lang="en-US" sz="1600" b="0" i="0" u="none" strike="noStrike" cap="none" dirty="0" err="1">
                <a:solidFill>
                  <a:srgbClr val="666666"/>
                </a:solidFill>
                <a:latin typeface="Inter"/>
                <a:ea typeface="Inter"/>
                <a:cs typeface="Inter"/>
                <a:sym typeface="Inter"/>
              </a:rPr>
              <a:t>độ</a:t>
            </a:r>
            <a:r>
              <a:rPr lang="en-US" sz="1600" b="0" i="0" u="none" strike="noStrike" cap="none" dirty="0">
                <a:solidFill>
                  <a:srgbClr val="666666"/>
                </a:solidFill>
                <a:latin typeface="Inter"/>
                <a:ea typeface="Inter"/>
                <a:cs typeface="Inter"/>
                <a:sym typeface="Inter"/>
              </a:rPr>
              <a:t> </a:t>
            </a:r>
            <a:r>
              <a:rPr lang="en-US" sz="1600" b="0" i="0" u="none" strike="noStrike" cap="none" dirty="0" err="1">
                <a:solidFill>
                  <a:srgbClr val="666666"/>
                </a:solidFill>
                <a:latin typeface="Inter"/>
                <a:ea typeface="Inter"/>
                <a:cs typeface="Inter"/>
                <a:sym typeface="Inter"/>
              </a:rPr>
              <a:t>nghiên</a:t>
            </a:r>
            <a:r>
              <a:rPr lang="en-US" sz="1600" b="0" i="0" u="none" strike="noStrike" cap="none" dirty="0">
                <a:solidFill>
                  <a:srgbClr val="666666"/>
                </a:solidFill>
                <a:latin typeface="Inter"/>
                <a:ea typeface="Inter"/>
                <a:cs typeface="Inter"/>
                <a:sym typeface="Inter"/>
              </a:rPr>
              <a:t> </a:t>
            </a:r>
            <a:r>
              <a:rPr lang="en-US" sz="1600" b="0" i="0" u="none" strike="noStrike" cap="none" dirty="0" err="1">
                <a:solidFill>
                  <a:srgbClr val="666666"/>
                </a:solidFill>
                <a:latin typeface="Inter"/>
                <a:ea typeface="Inter"/>
                <a:cs typeface="Inter"/>
                <a:sym typeface="Inter"/>
              </a:rPr>
              <a:t>cứu</a:t>
            </a:r>
            <a:r>
              <a:rPr lang="en-US" sz="1600" b="0" i="0" u="none" strike="noStrike" cap="none" dirty="0">
                <a:solidFill>
                  <a:srgbClr val="666666"/>
                </a:solidFill>
                <a:latin typeface="Inter"/>
                <a:ea typeface="Inter"/>
                <a:cs typeface="Inter"/>
                <a:sym typeface="Inter"/>
              </a:rPr>
              <a:t>: 70%</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571500" y="2519362"/>
            <a:ext cx="5286375" cy="3038475"/>
          </a:xfrm>
          <a:prstGeom prst="rect">
            <a:avLst/>
          </a:prstGeom>
          <a:noFill/>
          <a:ln>
            <a:noFill/>
          </a:ln>
        </p:spPr>
      </p:pic>
      <p:pic>
        <p:nvPicPr>
          <p:cNvPr id="96" name="Google Shape;96;p14" descr="image.png"/>
          <p:cNvPicPr preferRelativeResize="0"/>
          <p:nvPr/>
        </p:nvPicPr>
        <p:blipFill rotWithShape="1">
          <a:blip r:embed="rId3">
            <a:alphaModFix/>
          </a:blip>
          <a:srcRect/>
          <a:stretch/>
        </p:blipFill>
        <p:spPr>
          <a:xfrm>
            <a:off x="6334125" y="2519362"/>
            <a:ext cx="5286375" cy="3038475"/>
          </a:xfrm>
          <a:prstGeom prst="rect">
            <a:avLst/>
          </a:prstGeom>
          <a:noFill/>
          <a:ln>
            <a:noFill/>
          </a:ln>
        </p:spPr>
      </p:pic>
      <p:sp>
        <p:nvSpPr>
          <p:cNvPr id="97" name="Google Shape;97;p14"/>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txBox="1"/>
          <p:nvPr/>
        </p:nvSpPr>
        <p:spPr>
          <a:xfrm>
            <a:off x="571500" y="6477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Đặt Vấn Đề &amp; Tính Cấp Thiết</a:t>
            </a:r>
            <a:endParaRPr/>
          </a:p>
        </p:txBody>
      </p:sp>
      <p:sp>
        <p:nvSpPr>
          <p:cNvPr id="99" name="Google Shape;99;p14"/>
          <p:cNvSpPr/>
          <p:nvPr/>
        </p:nvSpPr>
        <p:spPr>
          <a:xfrm>
            <a:off x="571500" y="1390650"/>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txBox="1"/>
          <p:nvPr/>
        </p:nvSpPr>
        <p:spPr>
          <a:xfrm>
            <a:off x="1000125" y="2909887"/>
            <a:ext cx="4690586" cy="323165"/>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1" i="0" u="none" strike="noStrike" cap="none" dirty="0" smtClean="0">
                <a:solidFill>
                  <a:srgbClr val="00264D"/>
                </a:solidFill>
                <a:latin typeface="Roboto Slab"/>
                <a:ea typeface="Roboto Slab"/>
                <a:cs typeface="Roboto Slab"/>
                <a:sym typeface="Roboto Slab"/>
              </a:rPr>
              <a:t> </a:t>
            </a:r>
            <a:r>
              <a:rPr lang="en-US" sz="2100" b="1" i="0" u="none" strike="noStrike" cap="none" dirty="0" err="1" smtClean="0">
                <a:solidFill>
                  <a:srgbClr val="00264D"/>
                </a:solidFill>
                <a:latin typeface="Roboto Slab"/>
                <a:ea typeface="Roboto Slab"/>
                <a:cs typeface="Roboto Slab"/>
                <a:sym typeface="Roboto Slab"/>
              </a:rPr>
              <a:t>Thách</a:t>
            </a:r>
            <a:r>
              <a:rPr lang="en-US" sz="2100" b="1" i="0" u="none" strike="noStrike" cap="none" dirty="0" smtClean="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Thức</a:t>
            </a:r>
            <a:r>
              <a:rPr lang="en-US" sz="2100" b="1" i="0" u="none" strike="noStrike" cap="none" dirty="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Hiện</a:t>
            </a:r>
            <a:r>
              <a:rPr lang="en-US" sz="2100" b="1" i="0" u="none" strike="noStrike" cap="none" dirty="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Tại</a:t>
            </a:r>
            <a:endParaRPr dirty="0"/>
          </a:p>
        </p:txBody>
      </p:sp>
      <p:sp>
        <p:nvSpPr>
          <p:cNvPr id="101" name="Google Shape;101;p14"/>
          <p:cNvSpPr txBox="1"/>
          <p:nvPr/>
        </p:nvSpPr>
        <p:spPr>
          <a:xfrm>
            <a:off x="1000125" y="3452812"/>
            <a:ext cx="446722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Các thiết bị loa thông minh thương mại (Google, Alexa) thường hoạt động trên hệ sinh thái đóng, máy chủ đặt tại nước ngoài. Điều này gây lo ngại về </a:t>
            </a:r>
            <a:r>
              <a:rPr lang="en-US" sz="1500" b="1" i="0" u="none" strike="noStrike" cap="none">
                <a:solidFill>
                  <a:srgbClr val="334155"/>
                </a:solidFill>
                <a:latin typeface="Inter"/>
                <a:ea typeface="Inter"/>
                <a:cs typeface="Inter"/>
                <a:sym typeface="Inter"/>
              </a:rPr>
              <a:t>bảo mật dữ liệu</a:t>
            </a:r>
            <a:r>
              <a:rPr lang="en-US" sz="1500" b="0" i="0" u="none" strike="noStrike" cap="none">
                <a:solidFill>
                  <a:srgbClr val="334155"/>
                </a:solidFill>
                <a:latin typeface="Inter"/>
                <a:ea typeface="Inter"/>
                <a:cs typeface="Inter"/>
                <a:sym typeface="Inter"/>
              </a:rPr>
              <a:t> và khó khăn trong việc tùy biến chuyên sâu cho các nhiệm vụ đặc thù.</a:t>
            </a:r>
            <a:endParaRPr/>
          </a:p>
        </p:txBody>
      </p:sp>
      <p:sp>
        <p:nvSpPr>
          <p:cNvPr id="102" name="Google Shape;102;p14"/>
          <p:cNvSpPr txBox="1"/>
          <p:nvPr/>
        </p:nvSpPr>
        <p:spPr>
          <a:xfrm>
            <a:off x="6762750" y="2909887"/>
            <a:ext cx="4690586" cy="323165"/>
          </a:xfrm>
          <a:prstGeom prst="rect">
            <a:avLst/>
          </a:prstGeom>
          <a:noFill/>
          <a:ln>
            <a:noFill/>
          </a:ln>
        </p:spPr>
        <p:txBody>
          <a:bodyPr spcFirstLastPara="1" wrap="square" lIns="266700" tIns="0" rIns="0" bIns="0" anchor="t" anchorCtr="0">
            <a:spAutoFit/>
          </a:bodyPr>
          <a:lstStyle/>
          <a:p>
            <a:pPr marL="0" marR="0" lvl="0" indent="0" algn="l" rtl="0">
              <a:spcBef>
                <a:spcPts val="0"/>
              </a:spcBef>
              <a:spcAft>
                <a:spcPts val="0"/>
              </a:spcAft>
              <a:buNone/>
            </a:pPr>
            <a:r>
              <a:rPr lang="en-US" sz="2100" b="1" i="0" u="none" strike="noStrike" cap="none" dirty="0" smtClean="0">
                <a:solidFill>
                  <a:srgbClr val="00264D"/>
                </a:solidFill>
                <a:latin typeface="Roboto Slab"/>
                <a:ea typeface="Roboto Slab"/>
                <a:cs typeface="Roboto Slab"/>
                <a:sym typeface="Roboto Slab"/>
              </a:rPr>
              <a:t> </a:t>
            </a:r>
            <a:r>
              <a:rPr lang="en-US" sz="2100" b="1" i="0" u="none" strike="noStrike" cap="none" dirty="0" err="1" smtClean="0">
                <a:solidFill>
                  <a:srgbClr val="00264D"/>
                </a:solidFill>
                <a:latin typeface="Roboto Slab"/>
                <a:ea typeface="Roboto Slab"/>
                <a:cs typeface="Roboto Slab"/>
                <a:sym typeface="Roboto Slab"/>
              </a:rPr>
              <a:t>Giải</a:t>
            </a:r>
            <a:r>
              <a:rPr lang="en-US" sz="2100" b="1" i="0" u="none" strike="noStrike" cap="none" dirty="0" smtClean="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Pháp</a:t>
            </a:r>
            <a:r>
              <a:rPr lang="en-US" sz="2100" b="1" i="0" u="none" strike="noStrike" cap="none" dirty="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Tự</a:t>
            </a:r>
            <a:r>
              <a:rPr lang="en-US" sz="2100" b="1" i="0" u="none" strike="noStrike" cap="none" dirty="0">
                <a:solidFill>
                  <a:srgbClr val="00264D"/>
                </a:solidFill>
                <a:latin typeface="Roboto Slab"/>
                <a:ea typeface="Roboto Slab"/>
                <a:cs typeface="Roboto Slab"/>
                <a:sym typeface="Roboto Slab"/>
              </a:rPr>
              <a:t> </a:t>
            </a:r>
            <a:r>
              <a:rPr lang="en-US" sz="2100" b="1" i="0" u="none" strike="noStrike" cap="none" dirty="0" err="1">
                <a:solidFill>
                  <a:srgbClr val="00264D"/>
                </a:solidFill>
                <a:latin typeface="Roboto Slab"/>
                <a:ea typeface="Roboto Slab"/>
                <a:cs typeface="Roboto Slab"/>
                <a:sym typeface="Roboto Slab"/>
              </a:rPr>
              <a:t>Chủ</a:t>
            </a:r>
            <a:endParaRPr dirty="0"/>
          </a:p>
        </p:txBody>
      </p:sp>
      <p:sp>
        <p:nvSpPr>
          <p:cNvPr id="103" name="Google Shape;103;p14"/>
          <p:cNvSpPr txBox="1"/>
          <p:nvPr/>
        </p:nvSpPr>
        <p:spPr>
          <a:xfrm>
            <a:off x="6762750" y="3452812"/>
            <a:ext cx="446722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Nghiên cứu làm chủ công nghệ lõi dựa trên phần cứng mã nguồn mở (Open Source Hardware) và AI tối ưu cho tiếng Việt. Mục tiêu là tạo ra thiết bị "Made in Vietnam" có khả năng kiểm soát dữ liệu và tích hợp linh hoạt.</a:t>
            </a:r>
            <a:endParaRPr/>
          </a:p>
        </p:txBody>
      </p:sp>
      <p:pic>
        <p:nvPicPr>
          <p:cNvPr id="104" name="Google Shape;104;p14" descr="image.png"/>
          <p:cNvPicPr preferRelativeResize="0"/>
          <p:nvPr/>
        </p:nvPicPr>
        <p:blipFill rotWithShape="1">
          <a:blip r:embed="rId4">
            <a:alphaModFix/>
          </a:blip>
          <a:srcRect/>
          <a:stretch/>
        </p:blipFill>
        <p:spPr>
          <a:xfrm>
            <a:off x="1000125" y="2957512"/>
            <a:ext cx="266700" cy="266700"/>
          </a:xfrm>
          <a:prstGeom prst="rect">
            <a:avLst/>
          </a:prstGeom>
          <a:noFill/>
          <a:ln>
            <a:noFill/>
          </a:ln>
        </p:spPr>
      </p:pic>
      <p:pic>
        <p:nvPicPr>
          <p:cNvPr id="105" name="Google Shape;105;p14" descr="image.png"/>
          <p:cNvPicPr preferRelativeResize="0"/>
          <p:nvPr/>
        </p:nvPicPr>
        <p:blipFill rotWithShape="1">
          <a:blip r:embed="rId5">
            <a:alphaModFix/>
          </a:blip>
          <a:srcRect/>
          <a:stretch/>
        </p:blipFill>
        <p:spPr>
          <a:xfrm>
            <a:off x="6762750" y="2957512"/>
            <a:ext cx="266700" cy="26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
        <p:cNvGrpSpPr/>
        <p:nvPr/>
      </p:nvGrpSpPr>
      <p:grpSpPr>
        <a:xfrm>
          <a:off x="0" y="0"/>
          <a:ext cx="0" cy="0"/>
          <a:chOff x="0" y="0"/>
          <a:chExt cx="0" cy="0"/>
        </a:xfrm>
      </p:grpSpPr>
      <p:pic>
        <p:nvPicPr>
          <p:cNvPr id="110" name="Google Shape;110;p15" descr="image.png"/>
          <p:cNvPicPr preferRelativeResize="0"/>
          <p:nvPr/>
        </p:nvPicPr>
        <p:blipFill rotWithShape="1">
          <a:blip r:embed="rId3">
            <a:alphaModFix/>
          </a:blip>
          <a:srcRect/>
          <a:stretch/>
        </p:blipFill>
        <p:spPr>
          <a:xfrm>
            <a:off x="6334125" y="2133600"/>
            <a:ext cx="5286375" cy="3810000"/>
          </a:xfrm>
          <a:prstGeom prst="rect">
            <a:avLst/>
          </a:prstGeom>
          <a:noFill/>
          <a:ln>
            <a:noFill/>
          </a:ln>
        </p:spPr>
      </p:pic>
      <p:sp>
        <p:nvSpPr>
          <p:cNvPr id="111" name="Google Shape;111;p15"/>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5"/>
          <p:cNvSpPr txBox="1"/>
          <p:nvPr/>
        </p:nvSpPr>
        <p:spPr>
          <a:xfrm>
            <a:off x="571500" y="6477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Nền Tảng Công Nghệ Lõi</a:t>
            </a:r>
            <a:endParaRPr/>
          </a:p>
        </p:txBody>
      </p:sp>
      <p:sp>
        <p:nvSpPr>
          <p:cNvPr id="113" name="Google Shape;113;p15"/>
          <p:cNvSpPr/>
          <p:nvPr/>
        </p:nvSpPr>
        <p:spPr>
          <a:xfrm>
            <a:off x="571500" y="1390650"/>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txBox="1"/>
          <p:nvPr/>
        </p:nvSpPr>
        <p:spPr>
          <a:xfrm>
            <a:off x="571500" y="1973758"/>
            <a:ext cx="5286375" cy="124956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dirty="0">
                <a:solidFill>
                  <a:srgbClr val="00264D"/>
                </a:solidFill>
                <a:latin typeface="Inter"/>
                <a:ea typeface="Inter"/>
                <a:cs typeface="Inter"/>
                <a:sym typeface="Inter"/>
              </a:rPr>
              <a:t>1. Vi </a:t>
            </a:r>
            <a:r>
              <a:rPr lang="en-US" sz="1500" b="1" i="0" u="none" strike="noStrike" cap="none" dirty="0" err="1">
                <a:solidFill>
                  <a:srgbClr val="00264D"/>
                </a:solidFill>
                <a:latin typeface="Inter"/>
                <a:ea typeface="Inter"/>
                <a:cs typeface="Inter"/>
                <a:sym typeface="Inter"/>
              </a:rPr>
              <a:t>điều</a:t>
            </a:r>
            <a:r>
              <a:rPr lang="en-US" sz="1500" b="1" i="0" u="none" strike="noStrike" cap="none" dirty="0">
                <a:solidFill>
                  <a:srgbClr val="00264D"/>
                </a:solidFill>
                <a:latin typeface="Inter"/>
                <a:ea typeface="Inter"/>
                <a:cs typeface="Inter"/>
                <a:sym typeface="Inter"/>
              </a:rPr>
              <a:t> </a:t>
            </a:r>
            <a:r>
              <a:rPr lang="en-US" sz="1500" b="1" i="0" u="none" strike="noStrike" cap="none" dirty="0" err="1">
                <a:solidFill>
                  <a:srgbClr val="00264D"/>
                </a:solidFill>
                <a:latin typeface="Inter"/>
                <a:ea typeface="Inter"/>
                <a:cs typeface="Inter"/>
                <a:sym typeface="Inter"/>
              </a:rPr>
              <a:t>khiển</a:t>
            </a:r>
            <a:r>
              <a:rPr lang="en-US" sz="1500" b="1" i="0" u="none" strike="noStrike" cap="none" dirty="0">
                <a:solidFill>
                  <a:srgbClr val="00264D"/>
                </a:solidFill>
                <a:latin typeface="Inter"/>
                <a:ea typeface="Inter"/>
                <a:cs typeface="Inter"/>
                <a:sym typeface="Inter"/>
              </a:rPr>
              <a:t> </a:t>
            </a:r>
            <a:r>
              <a:rPr lang="en-US" sz="1500" b="1" i="0" u="none" strike="noStrike" cap="none" dirty="0" err="1">
                <a:solidFill>
                  <a:srgbClr val="00264D"/>
                </a:solidFill>
                <a:latin typeface="Inter"/>
                <a:ea typeface="Inter"/>
                <a:cs typeface="Inter"/>
                <a:sym typeface="Inter"/>
              </a:rPr>
              <a:t>trung</a:t>
            </a:r>
            <a:r>
              <a:rPr lang="en-US" sz="1500" b="1" i="0" u="none" strike="noStrike" cap="none" dirty="0">
                <a:solidFill>
                  <a:srgbClr val="00264D"/>
                </a:solidFill>
                <a:latin typeface="Inter"/>
                <a:ea typeface="Inter"/>
                <a:cs typeface="Inter"/>
                <a:sym typeface="Inter"/>
              </a:rPr>
              <a:t> </a:t>
            </a:r>
            <a:r>
              <a:rPr lang="en-US" sz="1500" b="1" i="0" u="none" strike="noStrike" cap="none" dirty="0" err="1">
                <a:solidFill>
                  <a:srgbClr val="00264D"/>
                </a:solidFill>
                <a:latin typeface="Inter"/>
                <a:ea typeface="Inter"/>
                <a:cs typeface="Inter"/>
                <a:sym typeface="Inter"/>
              </a:rPr>
              <a:t>tâm</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Sử</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dụng</a:t>
            </a:r>
            <a:r>
              <a:rPr lang="en-US" sz="1500" b="0" i="0" u="none" strike="noStrike" cap="none" dirty="0">
                <a:solidFill>
                  <a:srgbClr val="334155"/>
                </a:solidFill>
                <a:latin typeface="Inter"/>
                <a:ea typeface="Inter"/>
                <a:cs typeface="Inter"/>
                <a:sym typeface="Inter"/>
              </a:rPr>
              <a:t> </a:t>
            </a:r>
            <a:r>
              <a:rPr lang="en-US" sz="1500" b="1" i="0" u="none" strike="noStrike" cap="none" dirty="0" smtClean="0">
                <a:solidFill>
                  <a:srgbClr val="334155"/>
                </a:solidFill>
                <a:latin typeface="Inter"/>
                <a:ea typeface="Inter"/>
                <a:cs typeface="Inter"/>
                <a:sym typeface="Inter"/>
              </a:rPr>
              <a:t>ESP32/8266</a:t>
            </a:r>
            <a:r>
              <a:rPr lang="en-US" sz="1500" b="0" i="0" u="none" strike="noStrike" cap="none" dirty="0" smtClean="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với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khả</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năng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xử</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lý</a:t>
            </a:r>
            <a:r>
              <a:rPr lang="en-US" sz="1500" b="0" i="0" u="none" strike="noStrike" cap="none" dirty="0">
                <a:solidFill>
                  <a:srgbClr val="334155"/>
                </a:solidFill>
                <a:latin typeface="Inter"/>
                <a:ea typeface="Inter"/>
                <a:cs typeface="Inter"/>
                <a:sym typeface="Inter"/>
              </a:rPr>
              <a:t> AI instructions </a:t>
            </a:r>
            <a:r>
              <a:rPr lang="en-US" sz="1500" b="0" i="0" u="none" strike="noStrike" cap="none" dirty="0" err="1">
                <a:solidFill>
                  <a:srgbClr val="334155"/>
                </a:solidFill>
                <a:latin typeface="Inter"/>
                <a:ea typeface="Inter"/>
                <a:cs typeface="Inter"/>
                <a:sym typeface="Inter"/>
              </a:rPr>
              <a:t>tích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hợp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hỗ</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trợ</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nối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WiFi</a:t>
            </a:r>
            <a:r>
              <a:rPr lang="en-US" sz="1500" b="0" i="0" u="none" strike="noStrike" cap="none" dirty="0">
                <a:solidFill>
                  <a:srgbClr val="334155"/>
                </a:solidFill>
                <a:latin typeface="Inter"/>
                <a:ea typeface="Inter"/>
                <a:cs typeface="Inter"/>
                <a:sym typeface="Inter"/>
              </a:rPr>
              <a:t>/Bluetooth </a:t>
            </a:r>
            <a:r>
              <a:rPr lang="en-US" sz="1500" b="0" i="0" u="none" strike="noStrike" cap="none" dirty="0" err="1">
                <a:solidFill>
                  <a:srgbClr val="334155"/>
                </a:solidFill>
                <a:latin typeface="Inter"/>
                <a:ea typeface="Inter"/>
                <a:cs typeface="Inter"/>
                <a:sym typeface="Inter"/>
              </a:rPr>
              <a:t>mạnh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mẽ</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và</a:t>
            </a:r>
            <a:r>
              <a:rPr lang="en-US" sz="1500" b="0" i="0" u="none" strike="noStrike" cap="none" dirty="0">
                <a:solidFill>
                  <a:srgbClr val="334155"/>
                </a:solidFill>
                <a:latin typeface="Inter"/>
                <a:ea typeface="Inter"/>
                <a:cs typeface="Inter"/>
                <a:sym typeface="Inter"/>
              </a:rPr>
              <a:t> chi </a:t>
            </a:r>
            <a:r>
              <a:rPr lang="en-US" sz="1500" b="0" i="0" u="none" strike="noStrike" cap="none" dirty="0" err="1">
                <a:solidFill>
                  <a:srgbClr val="334155"/>
                </a:solidFill>
                <a:latin typeface="Inter"/>
                <a:ea typeface="Inter"/>
                <a:cs typeface="Inter"/>
                <a:sym typeface="Inter"/>
              </a:rPr>
              <a:t>phí</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thấp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phù</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hợp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triển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khai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đại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trà</a:t>
            </a:r>
            <a:r>
              <a:rPr lang="en-US" sz="1500" b="0" i="0" u="none" strike="noStrike" cap="none" dirty="0">
                <a:solidFill>
                  <a:srgbClr val="334155"/>
                </a:solidFill>
                <a:latin typeface="Inter"/>
                <a:ea typeface="Inter"/>
                <a:cs typeface="Inter"/>
                <a:sym typeface="Inter"/>
              </a:rPr>
              <a:t>.</a:t>
            </a:r>
            <a:endParaRPr dirty="0"/>
          </a:p>
        </p:txBody>
      </p:sp>
      <p:sp>
        <p:nvSpPr>
          <p:cNvPr id="116" name="Google Shape;116;p15"/>
          <p:cNvSpPr txBox="1"/>
          <p:nvPr/>
        </p:nvSpPr>
        <p:spPr>
          <a:xfrm>
            <a:off x="571500" y="3413819"/>
            <a:ext cx="5286375" cy="124956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00264D"/>
                </a:solidFill>
                <a:latin typeface="Inter"/>
                <a:ea typeface="Inter"/>
                <a:cs typeface="Inter"/>
                <a:sym typeface="Inter"/>
              </a:rPr>
              <a:t>2. Mô hình AI (LLM)</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334155"/>
                </a:solidFill>
                <a:latin typeface="Inter"/>
                <a:ea typeface="Inter"/>
                <a:cs typeface="Inter"/>
                <a:sym typeface="Inter"/>
              </a:rPr>
              <a:t> Tích hợp các mô hình ngôn ngữ lớn tiên tiến, được tinh chỉnh (Fine-tune) để xử lý hội thoại tiếng Việt tự nhiên và chính xác.</a:t>
            </a:r>
            <a:endParaRPr/>
          </a:p>
        </p:txBody>
      </p:sp>
      <p:sp>
        <p:nvSpPr>
          <p:cNvPr id="117" name="Google Shape;117;p15"/>
          <p:cNvSpPr txBox="1"/>
          <p:nvPr/>
        </p:nvSpPr>
        <p:spPr>
          <a:xfrm>
            <a:off x="571500" y="4853880"/>
            <a:ext cx="5286375" cy="124956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00264D"/>
                </a:solidFill>
                <a:latin typeface="Inter"/>
                <a:ea typeface="Inter"/>
                <a:cs typeface="Inter"/>
                <a:sym typeface="Inter"/>
              </a:rPr>
              <a:t>3. Giao thức MCP</a:t>
            </a:r>
            <a:r>
              <a:rPr lang="en-US" sz="1800" b="0" i="0" u="none" strike="noStrike" cap="none">
                <a:solidFill>
                  <a:schemeClr val="dk1"/>
                </a:solidFill>
                <a:latin typeface="Calibri"/>
                <a:ea typeface="Calibri"/>
                <a:cs typeface="Calibri"/>
                <a:sym typeface="Calibri"/>
              </a:rPr>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334155"/>
                </a:solidFill>
                <a:latin typeface="Inter"/>
                <a:ea typeface="Inter"/>
                <a:cs typeface="Inter"/>
                <a:sym typeface="Inter"/>
              </a:rPr>
              <a:t> Ứng dụng </a:t>
            </a:r>
            <a:r>
              <a:rPr lang="en-US" sz="1500" b="0" i="1" u="none" strike="noStrike" cap="none">
                <a:solidFill>
                  <a:srgbClr val="334155"/>
                </a:solidFill>
                <a:latin typeface="Inter"/>
                <a:ea typeface="Inter"/>
                <a:cs typeface="Inter"/>
                <a:sym typeface="Inter"/>
              </a:rPr>
              <a:t>Model Context Protocol</a:t>
            </a:r>
            <a:r>
              <a:rPr lang="en-US" sz="1500" b="0" i="0" u="none" strike="noStrike" cap="none">
                <a:solidFill>
                  <a:srgbClr val="334155"/>
                </a:solidFill>
                <a:latin typeface="Inter"/>
                <a:ea typeface="Inter"/>
                <a:cs typeface="Inter"/>
                <a:sym typeface="Inter"/>
              </a:rPr>
              <a:t> cho phép thiết bị không chỉ "trò chuyện" mà còn "thực thi" tác vụ trên máy tính.</a:t>
            </a:r>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2225" y="2598538"/>
            <a:ext cx="5248275" cy="28170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sp>
        <p:nvSpPr>
          <p:cNvPr id="122" name="Google Shape;122;p16"/>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6"/>
          <p:cNvSpPr txBox="1"/>
          <p:nvPr/>
        </p:nvSpPr>
        <p:spPr>
          <a:xfrm>
            <a:off x="571500" y="647700"/>
            <a:ext cx="5200650" cy="1219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Kết Nối Tri Thức (MCP)</a:t>
            </a:r>
            <a:endParaRPr/>
          </a:p>
        </p:txBody>
      </p:sp>
      <p:sp>
        <p:nvSpPr>
          <p:cNvPr id="124" name="Google Shape;124;p16"/>
          <p:cNvSpPr/>
          <p:nvPr/>
        </p:nvSpPr>
        <p:spPr>
          <a:xfrm>
            <a:off x="571500" y="1257300"/>
            <a:ext cx="4953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6"/>
          <p:cNvSpPr txBox="1"/>
          <p:nvPr/>
        </p:nvSpPr>
        <p:spPr>
          <a:xfrm>
            <a:off x="571500" y="1528762"/>
            <a:ext cx="5200650"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B38600"/>
                </a:solidFill>
                <a:latin typeface="Roboto Slab"/>
                <a:ea typeface="Roboto Slab"/>
                <a:cs typeface="Roboto Slab"/>
                <a:sym typeface="Roboto Slab"/>
              </a:rPr>
              <a:t>Nguyên lý hoạt động</a:t>
            </a:r>
            <a:endParaRPr/>
          </a:p>
        </p:txBody>
      </p:sp>
      <p:sp>
        <p:nvSpPr>
          <p:cNvPr id="127" name="Google Shape;127;p16"/>
          <p:cNvSpPr txBox="1"/>
          <p:nvPr/>
        </p:nvSpPr>
        <p:spPr>
          <a:xfrm>
            <a:off x="571500" y="1900237"/>
            <a:ext cx="49530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Khác với loa thông thường, Loa Xiaozhi sử dụng giao thức </a:t>
            </a:r>
            <a:r>
              <a:rPr lang="en-US" sz="1500" b="1" i="0" u="none" strike="noStrike" cap="none">
                <a:solidFill>
                  <a:srgbClr val="334155"/>
                </a:solidFill>
                <a:latin typeface="Inter"/>
                <a:ea typeface="Inter"/>
                <a:cs typeface="Inter"/>
                <a:sym typeface="Inter"/>
              </a:rPr>
              <a:t>MCP (Model Context Protocol)</a:t>
            </a:r>
            <a:r>
              <a:rPr lang="en-US" sz="1500" b="0" i="0" u="none" strike="noStrike" cap="none">
                <a:solidFill>
                  <a:srgbClr val="334155"/>
                </a:solidFill>
                <a:latin typeface="Inter"/>
                <a:ea typeface="Inter"/>
                <a:cs typeface="Inter"/>
                <a:sym typeface="Inter"/>
              </a:rPr>
              <a:t> để kết nối trực tiếp với tài nguyên cục bộ.</a:t>
            </a:r>
            <a:endParaRPr/>
          </a:p>
        </p:txBody>
      </p:sp>
      <p:sp>
        <p:nvSpPr>
          <p:cNvPr id="128" name="Google Shape;128;p16"/>
          <p:cNvSpPr txBox="1"/>
          <p:nvPr/>
        </p:nvSpPr>
        <p:spPr>
          <a:xfrm>
            <a:off x="657225" y="3062288"/>
            <a:ext cx="4953000" cy="6096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4155"/>
                </a:solidFill>
                <a:latin typeface="Inter"/>
                <a:ea typeface="Inter"/>
                <a:cs typeface="Inter"/>
                <a:sym typeface="Inter"/>
              </a:rPr>
              <a:t>Truy</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xuất</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dữ</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liệu</a:t>
            </a:r>
            <a:r>
              <a:rPr lang="en-US" sz="1500" b="1" i="0" u="none" strike="noStrike" cap="none" dirty="0">
                <a:solidFill>
                  <a:srgbClr val="334155"/>
                </a:solidFill>
                <a:latin typeface="Inter"/>
                <a:ea typeface="Inter"/>
                <a:cs typeface="Inter"/>
                <a:sym typeface="Inter"/>
              </a:rPr>
              <a: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Đọc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báo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cáo</a:t>
            </a:r>
            <a:r>
              <a:rPr lang="en-US" sz="1500" b="0" i="0" u="none" strike="noStrike" cap="none" dirty="0">
                <a:solidFill>
                  <a:srgbClr val="334155"/>
                </a:solidFill>
                <a:latin typeface="Inter"/>
                <a:ea typeface="Inter"/>
                <a:cs typeface="Inter"/>
                <a:sym typeface="Inter"/>
              </a:rPr>
              <a:t>, file Excel, PDF </a:t>
            </a:r>
            <a:r>
              <a:rPr lang="en-US" sz="1500" b="0" i="0" u="none" strike="noStrike" cap="none" dirty="0" err="1">
                <a:solidFill>
                  <a:srgbClr val="334155"/>
                </a:solidFill>
                <a:latin typeface="Inter"/>
                <a:ea typeface="Inter"/>
                <a:cs typeface="Inter"/>
                <a:sym typeface="Inter"/>
              </a:rPr>
              <a:t>trên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máy</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tính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người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dùng</a:t>
            </a:r>
            <a:r>
              <a:rPr lang="en-US" sz="1500" b="0" i="0" u="none" strike="noStrike" cap="none" dirty="0">
                <a:solidFill>
                  <a:srgbClr val="334155"/>
                </a:solidFill>
                <a:latin typeface="Inter"/>
                <a:ea typeface="Inter"/>
                <a:cs typeface="Inter"/>
                <a:sym typeface="Inter"/>
              </a:rPr>
              <a:t>.</a:t>
            </a:r>
            <a:endParaRPr dirty="0"/>
          </a:p>
        </p:txBody>
      </p:sp>
      <p:sp>
        <p:nvSpPr>
          <p:cNvPr id="129" name="Google Shape;129;p16"/>
          <p:cNvSpPr txBox="1"/>
          <p:nvPr/>
        </p:nvSpPr>
        <p:spPr>
          <a:xfrm>
            <a:off x="657225" y="3995738"/>
            <a:ext cx="4953000" cy="6096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4155"/>
                </a:solidFill>
                <a:latin typeface="Inter"/>
                <a:ea typeface="Inter"/>
                <a:cs typeface="Inter"/>
                <a:sym typeface="Inter"/>
              </a:rPr>
              <a:t>Điều</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khiển</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công</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cụ</a:t>
            </a:r>
            <a:r>
              <a:rPr lang="en-US" sz="1500" b="1" i="0" u="none" strike="noStrike" cap="none" dirty="0">
                <a:solidFill>
                  <a:srgbClr val="334155"/>
                </a:solidFill>
                <a:latin typeface="Inter"/>
                <a:ea typeface="Inter"/>
                <a:cs typeface="Inter"/>
                <a:sym typeface="Inter"/>
              </a:rPr>
              <a: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Tự</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động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mở</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phần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mềm</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chạy</a:t>
            </a:r>
            <a:r>
              <a:rPr lang="en-US" sz="1500" b="0" i="0" u="none" strike="noStrike" cap="none" dirty="0">
                <a:solidFill>
                  <a:srgbClr val="334155"/>
                </a:solidFill>
                <a:latin typeface="Inter"/>
                <a:ea typeface="Inter"/>
                <a:cs typeface="Inter"/>
                <a:sym typeface="Inter"/>
              </a:rPr>
              <a:t> script </a:t>
            </a:r>
            <a:r>
              <a:rPr lang="en-US" sz="1500" b="0" i="0" u="none" strike="noStrike" cap="none" dirty="0" err="1">
                <a:solidFill>
                  <a:srgbClr val="334155"/>
                </a:solidFill>
                <a:latin typeface="Inter"/>
                <a:ea typeface="Inter"/>
                <a:cs typeface="Inter"/>
                <a:sym typeface="Inter"/>
              </a:rPr>
              <a:t>lập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trình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hoặc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điều</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khiển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thiết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bị</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ngoại</a:t>
            </a:r>
            <a:r>
              <a:rPr lang="en-US" sz="1500" b="0" i="0" u="none" strike="noStrike" cap="none" dirty="0">
                <a:solidFill>
                  <a:srgbClr val="334155"/>
                </a:solidFill>
                <a:latin typeface="Inter"/>
                <a:ea typeface="Inter"/>
                <a:cs typeface="Inter"/>
                <a:sym typeface="Inter"/>
              </a:rPr>
              <a:t> vi.</a:t>
            </a:r>
            <a:endParaRPr dirty="0"/>
          </a:p>
        </p:txBody>
      </p:sp>
      <p:sp>
        <p:nvSpPr>
          <p:cNvPr id="130" name="Google Shape;130;p16"/>
          <p:cNvSpPr txBox="1"/>
          <p:nvPr/>
        </p:nvSpPr>
        <p:spPr>
          <a:xfrm>
            <a:off x="819150" y="4929188"/>
            <a:ext cx="4953000" cy="1238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rgbClr val="334155"/>
                </a:solidFill>
                <a:latin typeface="Inter"/>
                <a:ea typeface="Inter"/>
                <a:cs typeface="Inter"/>
                <a:sym typeface="Inter"/>
              </a:rPr>
              <a:t>Đây</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là</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bước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đột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phá</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biến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loa</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từ</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thiết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bị</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giải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trí</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thành</a:t>
            </a:r>
            <a:r>
              <a:rPr lang="en-US" sz="1500" b="0"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Trợ</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lý</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công</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việc</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thực</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thụ</a:t>
            </a:r>
            <a:r>
              <a:rPr lang="en-US" sz="1500" b="0" i="0" u="none" strike="noStrike" cap="none" dirty="0">
                <a:solidFill>
                  <a:srgbClr val="334155"/>
                </a:solidFill>
                <a:latin typeface="Inter"/>
                <a:ea typeface="Inter"/>
                <a:cs typeface="Inter"/>
                <a:sym typeface="Inter"/>
              </a:rPr>
              <a:t>.</a:t>
            </a:r>
            <a:endParaRPr dirty="0"/>
          </a:p>
        </p:txBody>
      </p:sp>
      <p:pic>
        <p:nvPicPr>
          <p:cNvPr id="131" name="Google Shape;131;p16" descr="image.png"/>
          <p:cNvPicPr preferRelativeResize="0"/>
          <p:nvPr/>
        </p:nvPicPr>
        <p:blipFill rotWithShape="1">
          <a:blip r:embed="rId3">
            <a:alphaModFix/>
          </a:blip>
          <a:srcRect/>
          <a:stretch/>
        </p:blipFill>
        <p:spPr>
          <a:xfrm>
            <a:off x="571500" y="3155156"/>
            <a:ext cx="171450" cy="190500"/>
          </a:xfrm>
          <a:prstGeom prst="rect">
            <a:avLst/>
          </a:prstGeom>
          <a:noFill/>
          <a:ln>
            <a:noFill/>
          </a:ln>
        </p:spPr>
      </p:pic>
      <p:pic>
        <p:nvPicPr>
          <p:cNvPr id="132" name="Google Shape;132;p16" descr="image.png"/>
          <p:cNvPicPr preferRelativeResize="0"/>
          <p:nvPr/>
        </p:nvPicPr>
        <p:blipFill rotWithShape="1">
          <a:blip r:embed="rId3">
            <a:alphaModFix/>
          </a:blip>
          <a:srcRect/>
          <a:stretch/>
        </p:blipFill>
        <p:spPr>
          <a:xfrm>
            <a:off x="571500" y="4110038"/>
            <a:ext cx="171450" cy="190500"/>
          </a:xfrm>
          <a:prstGeom prst="rect">
            <a:avLst/>
          </a:prstGeom>
          <a:noFill/>
          <a:ln>
            <a:noFill/>
          </a:ln>
        </p:spPr>
      </p:pic>
      <p:pic>
        <p:nvPicPr>
          <p:cNvPr id="13" name="Google Shape;132;p16" descr="image.png"/>
          <p:cNvPicPr preferRelativeResize="0"/>
          <p:nvPr/>
        </p:nvPicPr>
        <p:blipFill rotWithShape="1">
          <a:blip r:embed="rId3">
            <a:alphaModFix/>
          </a:blip>
          <a:srcRect/>
          <a:stretch/>
        </p:blipFill>
        <p:spPr>
          <a:xfrm>
            <a:off x="571500" y="5043488"/>
            <a:ext cx="171450" cy="190500"/>
          </a:xfrm>
          <a:prstGeom prst="rect">
            <a:avLst/>
          </a:prstGeom>
          <a:noFill/>
          <a:ln>
            <a:noFill/>
          </a:ln>
        </p:spPr>
      </p:pic>
      <p:pic>
        <p:nvPicPr>
          <p:cNvPr id="2" name="Picture 1"/>
          <p:cNvPicPr>
            <a:picLocks noChangeAspect="1"/>
          </p:cNvPicPr>
          <p:nvPr/>
        </p:nvPicPr>
        <p:blipFill>
          <a:blip r:embed="rId4"/>
          <a:stretch>
            <a:fillRect/>
          </a:stretch>
        </p:blipFill>
        <p:spPr>
          <a:xfrm>
            <a:off x="5772150" y="351899"/>
            <a:ext cx="6124287" cy="3758139"/>
          </a:xfrm>
          <a:prstGeom prst="rect">
            <a:avLst/>
          </a:prstGeom>
        </p:spPr>
      </p:pic>
      <p:pic>
        <p:nvPicPr>
          <p:cNvPr id="3" name="Picture 2"/>
          <p:cNvPicPr>
            <a:picLocks noChangeAspect="1"/>
          </p:cNvPicPr>
          <p:nvPr/>
        </p:nvPicPr>
        <p:blipFill>
          <a:blip r:embed="rId5"/>
          <a:stretch>
            <a:fillRect/>
          </a:stretch>
        </p:blipFill>
        <p:spPr>
          <a:xfrm>
            <a:off x="5772150" y="4021933"/>
            <a:ext cx="6124287" cy="25080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pic>
        <p:nvPicPr>
          <p:cNvPr id="137" name="Google Shape;137;p17" descr="image.png"/>
          <p:cNvPicPr preferRelativeResize="0"/>
          <p:nvPr/>
        </p:nvPicPr>
        <p:blipFill rotWithShape="1">
          <a:blip r:embed="rId3">
            <a:alphaModFix/>
          </a:blip>
          <a:srcRect/>
          <a:stretch/>
        </p:blipFill>
        <p:spPr>
          <a:xfrm>
            <a:off x="571500" y="2133600"/>
            <a:ext cx="5286375" cy="3810000"/>
          </a:xfrm>
          <a:prstGeom prst="rect">
            <a:avLst/>
          </a:prstGeom>
          <a:noFill/>
          <a:ln>
            <a:noFill/>
          </a:ln>
        </p:spPr>
      </p:pic>
      <p:sp>
        <p:nvSpPr>
          <p:cNvPr id="138" name="Google Shape;138;p17"/>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7"/>
          <p:cNvSpPr txBox="1"/>
          <p:nvPr/>
        </p:nvSpPr>
        <p:spPr>
          <a:xfrm>
            <a:off x="571500" y="6477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Ứng Dụng: Giáo Dục Thông Minh</a:t>
            </a:r>
            <a:endParaRPr/>
          </a:p>
        </p:txBody>
      </p:sp>
      <p:sp>
        <p:nvSpPr>
          <p:cNvPr id="140" name="Google Shape;140;p17"/>
          <p:cNvSpPr/>
          <p:nvPr/>
        </p:nvSpPr>
        <p:spPr>
          <a:xfrm>
            <a:off x="571500" y="1390650"/>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7"/>
          <p:cNvSpPr txBox="1"/>
          <p:nvPr/>
        </p:nvSpPr>
        <p:spPr>
          <a:xfrm>
            <a:off x="6334125" y="2224087"/>
            <a:ext cx="555069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smtClean="0">
                <a:solidFill>
                  <a:srgbClr val="B38600"/>
                </a:solidFill>
                <a:latin typeface="Roboto Slab"/>
                <a:ea typeface="Roboto Slab"/>
                <a:cs typeface="Roboto Slab"/>
                <a:sym typeface="Roboto Slab"/>
              </a:rPr>
              <a:t>Mô</a:t>
            </a:r>
            <a:r>
              <a:rPr lang="en-US" sz="1800" b="1" i="0" u="none" strike="noStrike" cap="none" dirty="0" smtClean="0">
                <a:solidFill>
                  <a:srgbClr val="B38600"/>
                </a:solidFill>
                <a:latin typeface="Roboto Slab"/>
                <a:ea typeface="Roboto Slab"/>
                <a:cs typeface="Roboto Slab"/>
                <a:sym typeface="Roboto Slab"/>
              </a:rPr>
              <a:t> </a:t>
            </a:r>
            <a:r>
              <a:rPr lang="en-US" sz="1800" b="1" i="0" u="none" strike="noStrike" cap="none" dirty="0" err="1" smtClean="0">
                <a:solidFill>
                  <a:srgbClr val="B38600"/>
                </a:solidFill>
                <a:latin typeface="Roboto Slab"/>
                <a:ea typeface="Roboto Slab"/>
                <a:cs typeface="Roboto Slab"/>
                <a:sym typeface="Roboto Slab"/>
              </a:rPr>
              <a:t>hình</a:t>
            </a:r>
            <a:r>
              <a:rPr lang="en-US" sz="1800" b="1" i="0" u="none" strike="noStrike" cap="none" dirty="0" smtClean="0">
                <a:solidFill>
                  <a:srgbClr val="B38600"/>
                </a:solidFill>
                <a:latin typeface="Roboto Slab"/>
                <a:ea typeface="Roboto Slab"/>
                <a:cs typeface="Roboto Slab"/>
                <a:sym typeface="Roboto Slab"/>
              </a:rPr>
              <a:t> </a:t>
            </a:r>
            <a:r>
              <a:rPr lang="en-US" sz="1800" b="1" i="0" u="none" strike="noStrike" cap="none" dirty="0" err="1" smtClean="0">
                <a:solidFill>
                  <a:srgbClr val="B38600"/>
                </a:solidFill>
                <a:latin typeface="Roboto Slab"/>
                <a:ea typeface="Roboto Slab"/>
                <a:cs typeface="Roboto Slab"/>
                <a:sym typeface="Roboto Slab"/>
              </a:rPr>
              <a:t>trợ</a:t>
            </a:r>
            <a:r>
              <a:rPr lang="en-US" sz="1800" b="1" i="0" u="none" strike="noStrike" cap="none" dirty="0" smtClean="0">
                <a:solidFill>
                  <a:srgbClr val="B38600"/>
                </a:solidFill>
                <a:latin typeface="Roboto Slab"/>
                <a:ea typeface="Roboto Slab"/>
                <a:cs typeface="Roboto Slab"/>
                <a:sym typeface="Roboto Slab"/>
              </a:rPr>
              <a:t> </a:t>
            </a:r>
            <a:r>
              <a:rPr lang="en-US" sz="1800" b="1" i="0" u="none" strike="noStrike" cap="none" dirty="0" err="1" smtClean="0">
                <a:solidFill>
                  <a:srgbClr val="B38600"/>
                </a:solidFill>
                <a:latin typeface="Roboto Slab"/>
                <a:ea typeface="Roboto Slab"/>
                <a:cs typeface="Roboto Slab"/>
                <a:sym typeface="Roboto Slab"/>
              </a:rPr>
              <a:t>giảng</a:t>
            </a:r>
            <a:r>
              <a:rPr lang="en-US" sz="1800" b="1" i="0" u="none" strike="noStrike" cap="none" dirty="0" smtClean="0">
                <a:solidFill>
                  <a:srgbClr val="B38600"/>
                </a:solidFill>
                <a:latin typeface="Roboto Slab"/>
                <a:ea typeface="Roboto Slab"/>
                <a:cs typeface="Roboto Slab"/>
                <a:sym typeface="Roboto Slab"/>
              </a:rPr>
              <a:t> </a:t>
            </a:r>
            <a:r>
              <a:rPr lang="en-US" sz="1800" b="1" i="0" u="none" strike="noStrike" cap="none" dirty="0" err="1" smtClean="0">
                <a:solidFill>
                  <a:srgbClr val="B38600"/>
                </a:solidFill>
                <a:latin typeface="Roboto Slab"/>
                <a:ea typeface="Roboto Slab"/>
                <a:cs typeface="Roboto Slab"/>
                <a:sym typeface="Roboto Slab"/>
              </a:rPr>
              <a:t>ảo</a:t>
            </a:r>
            <a:r>
              <a:rPr lang="en-US" sz="1800" b="1" i="0" u="none" strike="noStrike" cap="none" dirty="0" smtClean="0">
                <a:solidFill>
                  <a:srgbClr val="B38600"/>
                </a:solidFill>
                <a:latin typeface="Roboto Slab"/>
                <a:ea typeface="Roboto Slab"/>
                <a:cs typeface="Roboto Slab"/>
                <a:sym typeface="Roboto Slab"/>
              </a:rPr>
              <a:t> (Virtual Teaching Assistant)</a:t>
            </a:r>
            <a:endParaRPr sz="1100" dirty="0"/>
          </a:p>
        </p:txBody>
      </p:sp>
      <p:sp>
        <p:nvSpPr>
          <p:cNvPr id="143" name="Google Shape;143;p17"/>
          <p:cNvSpPr txBox="1"/>
          <p:nvPr/>
        </p:nvSpPr>
        <p:spPr>
          <a:xfrm>
            <a:off x="6334125" y="2652712"/>
            <a:ext cx="5286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rgbClr val="334155"/>
                </a:solidFill>
                <a:latin typeface="Inter"/>
                <a:ea typeface="Inter"/>
                <a:cs typeface="Inter"/>
                <a:sym typeface="Inter"/>
              </a:rPr>
              <a:t>Thiết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bị</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được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tích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hợp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sâu</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vào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môi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trường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giáo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dục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đóng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vai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trò</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như</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một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trợ</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giảng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ảo</a:t>
            </a:r>
            <a:r>
              <a:rPr lang="en-US" sz="1500" b="0" i="0" u="none" strike="noStrike" cap="none" dirty="0">
                <a:solidFill>
                  <a:srgbClr val="334155"/>
                </a:solidFill>
                <a:latin typeface="Inter"/>
                <a:ea typeface="Inter"/>
                <a:cs typeface="Inter"/>
                <a:sym typeface="Inter"/>
              </a:rPr>
              <a:t>:</a:t>
            </a:r>
            <a:endParaRPr dirty="0"/>
          </a:p>
        </p:txBody>
      </p:sp>
      <p:sp>
        <p:nvSpPr>
          <p:cNvPr id="144" name="Google Shape;144;p17"/>
          <p:cNvSpPr txBox="1"/>
          <p:nvPr/>
        </p:nvSpPr>
        <p:spPr>
          <a:xfrm>
            <a:off x="6614794" y="3500781"/>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4155"/>
                </a:solidFill>
                <a:latin typeface="Inter"/>
                <a:ea typeface="Inter"/>
                <a:cs typeface="Inter"/>
                <a:sym typeface="Inter"/>
              </a:rPr>
              <a:t>•</a:t>
            </a:r>
            <a:endParaRPr dirty="0"/>
          </a:p>
        </p:txBody>
      </p:sp>
      <p:sp>
        <p:nvSpPr>
          <p:cNvPr id="145" name="Google Shape;145;p17"/>
          <p:cNvSpPr txBox="1"/>
          <p:nvPr/>
        </p:nvSpPr>
        <p:spPr>
          <a:xfrm>
            <a:off x="6715124" y="3397341"/>
            <a:ext cx="4905375" cy="9144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4155"/>
                </a:solidFill>
                <a:latin typeface="Inter"/>
                <a:ea typeface="Inter"/>
                <a:cs typeface="Inter"/>
                <a:sym typeface="Inter"/>
              </a:rPr>
              <a:t>Trợ</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lý</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Phòng</a:t>
            </a:r>
            <a:r>
              <a:rPr lang="en-US" sz="1500" b="1" i="0" u="none" strike="noStrike" cap="none" dirty="0">
                <a:solidFill>
                  <a:srgbClr val="334155"/>
                </a:solidFill>
                <a:latin typeface="Inter"/>
                <a:ea typeface="Inter"/>
                <a:cs typeface="Inter"/>
                <a:sym typeface="Inter"/>
              </a:rPr>
              <a:t> Lab:</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nối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với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các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thiết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bị</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lường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hỗ</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trợ</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sinh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viên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tra</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cứu</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thông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số</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kỹ</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thuật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và</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quy</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trình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thực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hành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rảnh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tay</a:t>
            </a:r>
            <a:r>
              <a:rPr lang="en-US" sz="1500" b="0" i="0" u="none" strike="noStrike" cap="none" dirty="0">
                <a:solidFill>
                  <a:srgbClr val="334155"/>
                </a:solidFill>
                <a:latin typeface="Inter"/>
                <a:ea typeface="Inter"/>
                <a:cs typeface="Inter"/>
                <a:sym typeface="Inter"/>
              </a:rPr>
              <a:t> (hands-free).</a:t>
            </a:r>
            <a:endParaRPr dirty="0"/>
          </a:p>
        </p:txBody>
      </p:sp>
      <p:sp>
        <p:nvSpPr>
          <p:cNvPr id="146" name="Google Shape;146;p17"/>
          <p:cNvSpPr txBox="1"/>
          <p:nvPr/>
        </p:nvSpPr>
        <p:spPr>
          <a:xfrm>
            <a:off x="6612254" y="4650627"/>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4155"/>
                </a:solidFill>
                <a:latin typeface="Inter"/>
                <a:ea typeface="Inter"/>
                <a:cs typeface="Inter"/>
                <a:sym typeface="Inter"/>
              </a:rPr>
              <a:t>•</a:t>
            </a:r>
            <a:endParaRPr dirty="0"/>
          </a:p>
        </p:txBody>
      </p:sp>
      <p:sp>
        <p:nvSpPr>
          <p:cNvPr id="147" name="Google Shape;147;p17"/>
          <p:cNvSpPr txBox="1"/>
          <p:nvPr/>
        </p:nvSpPr>
        <p:spPr>
          <a:xfrm>
            <a:off x="6715124" y="4566807"/>
            <a:ext cx="4905375"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4155"/>
                </a:solidFill>
                <a:latin typeface="Inter"/>
                <a:ea typeface="Inter"/>
                <a:cs typeface="Inter"/>
                <a:sym typeface="Inter"/>
              </a:rPr>
              <a:t>Học</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Ngoại</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Ngữ</a:t>
            </a:r>
            <a:r>
              <a:rPr lang="en-US" sz="1500" b="1" i="0" u="none" strike="noStrike" cap="none" dirty="0">
                <a:solidFill>
                  <a:srgbClr val="334155"/>
                </a:solidFill>
                <a:latin typeface="Inter"/>
                <a:ea typeface="Inter"/>
                <a:cs typeface="Inter"/>
                <a:sym typeface="Inter"/>
              </a:rPr>
              <a: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Luyện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tập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giao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tiếp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tiếng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Anh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phản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xạ</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tự</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động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sửa</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lỗi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phát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âm</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cho</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học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viên</a:t>
            </a:r>
            <a:r>
              <a:rPr lang="en-US" sz="1500" b="0" i="0" u="none" strike="noStrike" cap="none" dirty="0">
                <a:solidFill>
                  <a:srgbClr val="334155"/>
                </a:solidFill>
                <a:latin typeface="Inter"/>
                <a:ea typeface="Inter"/>
                <a:cs typeface="Inter"/>
                <a:sym typeface="Inter"/>
              </a:rPr>
              <a:t>.</a:t>
            </a:r>
            <a:endParaRPr dirty="0"/>
          </a:p>
        </p:txBody>
      </p:sp>
      <p:sp>
        <p:nvSpPr>
          <p:cNvPr id="148" name="Google Shape;148;p17"/>
          <p:cNvSpPr txBox="1"/>
          <p:nvPr/>
        </p:nvSpPr>
        <p:spPr>
          <a:xfrm>
            <a:off x="6610350" y="5431472"/>
            <a:ext cx="10477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334155"/>
                </a:solidFill>
                <a:latin typeface="Inter"/>
                <a:ea typeface="Inter"/>
                <a:cs typeface="Inter"/>
                <a:sym typeface="Inter"/>
              </a:rPr>
              <a:t>•</a:t>
            </a:r>
            <a:endParaRPr dirty="0"/>
          </a:p>
        </p:txBody>
      </p:sp>
      <p:sp>
        <p:nvSpPr>
          <p:cNvPr id="149" name="Google Shape;149;p17"/>
          <p:cNvSpPr txBox="1"/>
          <p:nvPr/>
        </p:nvSpPr>
        <p:spPr>
          <a:xfrm>
            <a:off x="6715124" y="5334000"/>
            <a:ext cx="4905375" cy="609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4155"/>
                </a:solidFill>
                <a:latin typeface="Inter"/>
                <a:ea typeface="Inter"/>
                <a:cs typeface="Inter"/>
                <a:sym typeface="Inter"/>
              </a:rPr>
              <a:t>Tra</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cứu</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kiến</a:t>
            </a:r>
            <a:r>
              <a:rPr lang="en-US" sz="1500" b="1" i="0" u="none" strike="noStrike" cap="none" dirty="0">
                <a:solidFill>
                  <a:srgbClr val="334155"/>
                </a:solidFill>
                <a:latin typeface="Inter"/>
                <a:ea typeface="Inter"/>
                <a:cs typeface="Inter"/>
                <a:sym typeface="Inter"/>
              </a:rPr>
              <a:t> </a:t>
            </a:r>
            <a:r>
              <a:rPr lang="en-US" sz="1500" b="1" i="0" u="none" strike="noStrike" cap="none" dirty="0" err="1">
                <a:solidFill>
                  <a:srgbClr val="334155"/>
                </a:solidFill>
                <a:latin typeface="Inter"/>
                <a:ea typeface="Inter"/>
                <a:cs typeface="Inter"/>
                <a:sym typeface="Inter"/>
              </a:rPr>
              <a:t>thức</a:t>
            </a:r>
            <a:r>
              <a:rPr lang="en-US" sz="1500" b="1" i="0" u="none" strike="noStrike" cap="none" dirty="0">
                <a:solidFill>
                  <a:srgbClr val="334155"/>
                </a:solidFill>
                <a:latin typeface="Inter"/>
                <a:ea typeface="Inter"/>
                <a:cs typeface="Inter"/>
                <a:sym typeface="Inter"/>
              </a:rPr>
              <a:t>:</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Giải</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đáp</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thắc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mắc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chuyên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ngành</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Điện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tử</a:t>
            </a:r>
            <a:r>
              <a:rPr lang="en-US" sz="1500" b="0" i="0" u="none" strike="noStrike" cap="none" dirty="0">
                <a:solidFill>
                  <a:srgbClr val="334155"/>
                </a:solidFill>
                <a:latin typeface="Inter"/>
                <a:ea typeface="Inter"/>
                <a:cs typeface="Inter"/>
                <a:sym typeface="Inter"/>
              </a:rPr>
              <a:t> - </a:t>
            </a:r>
            <a:r>
              <a:rPr lang="en-US" sz="1500" b="0" i="0" u="none" strike="noStrike" cap="none" dirty="0" err="1">
                <a:solidFill>
                  <a:srgbClr val="334155"/>
                </a:solidFill>
                <a:latin typeface="Inter"/>
                <a:ea typeface="Inter"/>
                <a:cs typeface="Inter"/>
                <a:sym typeface="Inter"/>
              </a:rPr>
              <a:t>Viễn</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thông</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tức</a:t>
            </a:r>
            <a:r>
              <a:rPr lang="en-US" sz="1500" b="0" i="0" u="none" strike="noStrike" cap="none" dirty="0">
                <a:solidFill>
                  <a:srgbClr val="334155"/>
                </a:solidFill>
                <a:latin typeface="Inter"/>
                <a:ea typeface="Inter"/>
                <a:cs typeface="Inter"/>
                <a:sym typeface="Inter"/>
              </a:rPr>
              <a:t> </a:t>
            </a:r>
            <a:r>
              <a:rPr lang="en-US" sz="1500" b="0" i="0" u="none" strike="noStrike" cap="none" dirty="0" err="1">
                <a:solidFill>
                  <a:srgbClr val="334155"/>
                </a:solidFill>
                <a:latin typeface="Inter"/>
                <a:ea typeface="Inter"/>
                <a:cs typeface="Inter"/>
                <a:sym typeface="Inter"/>
              </a:rPr>
              <a:t>thời</a:t>
            </a:r>
            <a:r>
              <a:rPr lang="en-US" sz="1500" b="0" i="0" u="none" strike="noStrike" cap="none" dirty="0">
                <a:solidFill>
                  <a:srgbClr val="334155"/>
                </a:solidFill>
                <a:latin typeface="Inter"/>
                <a:ea typeface="Inter"/>
                <a:cs typeface="Inter"/>
                <a:sym typeface="Inter"/>
              </a:rPr>
              <a:t>.</a:t>
            </a:r>
            <a:endParaRPr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925" y="2419927"/>
            <a:ext cx="4992839" cy="33163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pic>
        <p:nvPicPr>
          <p:cNvPr id="154" name="Google Shape;154;p18" descr="image.png"/>
          <p:cNvPicPr preferRelativeResize="0"/>
          <p:nvPr/>
        </p:nvPicPr>
        <p:blipFill rotWithShape="1">
          <a:blip r:embed="rId3">
            <a:alphaModFix/>
          </a:blip>
          <a:srcRect/>
          <a:stretch/>
        </p:blipFill>
        <p:spPr>
          <a:xfrm>
            <a:off x="571500" y="2262187"/>
            <a:ext cx="3492549" cy="3552825"/>
          </a:xfrm>
          <a:prstGeom prst="rect">
            <a:avLst/>
          </a:prstGeom>
          <a:noFill/>
          <a:ln>
            <a:noFill/>
          </a:ln>
        </p:spPr>
      </p:pic>
      <p:pic>
        <p:nvPicPr>
          <p:cNvPr id="155" name="Google Shape;155;p18" descr="image.png"/>
          <p:cNvPicPr preferRelativeResize="0"/>
          <p:nvPr/>
        </p:nvPicPr>
        <p:blipFill rotWithShape="1">
          <a:blip r:embed="rId4">
            <a:alphaModFix/>
          </a:blip>
          <a:srcRect/>
          <a:stretch/>
        </p:blipFill>
        <p:spPr>
          <a:xfrm>
            <a:off x="4349799" y="2262187"/>
            <a:ext cx="3492549" cy="3552825"/>
          </a:xfrm>
          <a:prstGeom prst="rect">
            <a:avLst/>
          </a:prstGeom>
          <a:noFill/>
          <a:ln>
            <a:noFill/>
          </a:ln>
        </p:spPr>
      </p:pic>
      <p:pic>
        <p:nvPicPr>
          <p:cNvPr id="156" name="Google Shape;156;p18" descr="image.png"/>
          <p:cNvPicPr preferRelativeResize="0"/>
          <p:nvPr/>
        </p:nvPicPr>
        <p:blipFill rotWithShape="1">
          <a:blip r:embed="rId5">
            <a:alphaModFix/>
          </a:blip>
          <a:srcRect/>
          <a:stretch/>
        </p:blipFill>
        <p:spPr>
          <a:xfrm>
            <a:off x="8128099" y="2262187"/>
            <a:ext cx="3492549" cy="3552825"/>
          </a:xfrm>
          <a:prstGeom prst="rect">
            <a:avLst/>
          </a:prstGeom>
          <a:noFill/>
          <a:ln>
            <a:noFill/>
          </a:ln>
        </p:spPr>
      </p:pic>
      <p:sp>
        <p:nvSpPr>
          <p:cNvPr id="157" name="Google Shape;157;p18"/>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8"/>
          <p:cNvSpPr txBox="1"/>
          <p:nvPr/>
        </p:nvSpPr>
        <p:spPr>
          <a:xfrm>
            <a:off x="571500" y="6477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Ứng Dụng: Quản Trị Nhà Thông Minh</a:t>
            </a:r>
            <a:endParaRPr/>
          </a:p>
        </p:txBody>
      </p:sp>
      <p:sp>
        <p:nvSpPr>
          <p:cNvPr id="159" name="Google Shape;159;p18"/>
          <p:cNvSpPr/>
          <p:nvPr/>
        </p:nvSpPr>
        <p:spPr>
          <a:xfrm>
            <a:off x="571500" y="1390650"/>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794225" y="3309937"/>
            <a:ext cx="3047099"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B38600"/>
                </a:solidFill>
                <a:latin typeface="Roboto Slab"/>
                <a:ea typeface="Roboto Slab"/>
                <a:cs typeface="Roboto Slab"/>
                <a:sym typeface="Roboto Slab"/>
              </a:rPr>
              <a:t>Điều Khiển Giọng Nói</a:t>
            </a:r>
            <a:endParaRPr/>
          </a:p>
        </p:txBody>
      </p:sp>
      <p:sp>
        <p:nvSpPr>
          <p:cNvPr id="161" name="Google Shape;161;p18"/>
          <p:cNvSpPr txBox="1"/>
          <p:nvPr/>
        </p:nvSpPr>
        <p:spPr>
          <a:xfrm>
            <a:off x="866775" y="3805237"/>
            <a:ext cx="2901999"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Ra lệnh tự nhiên bằng tiếng Việt (không cần câu lệnh cứng nhắc) để bật tắt đèn, quạt, rèm cửa thông qua tích hợp Home Assistant.</a:t>
            </a:r>
            <a:endParaRPr/>
          </a:p>
        </p:txBody>
      </p:sp>
      <p:sp>
        <p:nvSpPr>
          <p:cNvPr id="162" name="Google Shape;162;p18"/>
          <p:cNvSpPr txBox="1"/>
          <p:nvPr/>
        </p:nvSpPr>
        <p:spPr>
          <a:xfrm>
            <a:off x="4572524" y="3309937"/>
            <a:ext cx="3047099"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B38600"/>
                </a:solidFill>
                <a:latin typeface="Roboto Slab"/>
                <a:ea typeface="Roboto Slab"/>
                <a:cs typeface="Roboto Slab"/>
                <a:sym typeface="Roboto Slab"/>
              </a:rPr>
              <a:t>An Ninh &amp; Giám Sát</a:t>
            </a:r>
            <a:endParaRPr/>
          </a:p>
        </p:txBody>
      </p:sp>
      <p:sp>
        <p:nvSpPr>
          <p:cNvPr id="163" name="Google Shape;163;p18"/>
          <p:cNvSpPr txBox="1"/>
          <p:nvPr/>
        </p:nvSpPr>
        <p:spPr>
          <a:xfrm>
            <a:off x="4645074" y="3805237"/>
            <a:ext cx="290199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Phát cảnh báo xâm nhập, gửi thông báo đến điện thoại và tự động kích hoạt chế độ bảo vệ khi chủ nhân vắng nhà.</a:t>
            </a:r>
            <a:endParaRPr/>
          </a:p>
        </p:txBody>
      </p:sp>
      <p:sp>
        <p:nvSpPr>
          <p:cNvPr id="164" name="Google Shape;164;p18"/>
          <p:cNvSpPr txBox="1"/>
          <p:nvPr/>
        </p:nvSpPr>
        <p:spPr>
          <a:xfrm>
            <a:off x="8350824" y="3309937"/>
            <a:ext cx="3047099"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B38600"/>
                </a:solidFill>
                <a:latin typeface="Roboto Slab"/>
                <a:ea typeface="Roboto Slab"/>
                <a:cs typeface="Roboto Slab"/>
                <a:sym typeface="Roboto Slab"/>
              </a:rPr>
              <a:t>Trợ Lý Cá Nhân</a:t>
            </a:r>
            <a:endParaRPr/>
          </a:p>
        </p:txBody>
      </p:sp>
      <p:sp>
        <p:nvSpPr>
          <p:cNvPr id="165" name="Google Shape;165;p18"/>
          <p:cNvSpPr txBox="1"/>
          <p:nvPr/>
        </p:nvSpPr>
        <p:spPr>
          <a:xfrm>
            <a:off x="8423374" y="3805237"/>
            <a:ext cx="2901999"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Quản lý lịch trình làm việc, nhắc nhở sự kiện quan trọng và cập nhật tin tức thời sự, thời tiết vào mỗi buổi sáng.</a:t>
            </a:r>
            <a:endParaRPr/>
          </a:p>
        </p:txBody>
      </p:sp>
      <p:pic>
        <p:nvPicPr>
          <p:cNvPr id="166" name="Google Shape;166;p18" descr="image.png"/>
          <p:cNvPicPr preferRelativeResize="0"/>
          <p:nvPr/>
        </p:nvPicPr>
        <p:blipFill rotWithShape="1">
          <a:blip r:embed="rId6">
            <a:alphaModFix/>
          </a:blip>
          <a:srcRect/>
          <a:stretch/>
        </p:blipFill>
        <p:spPr>
          <a:xfrm>
            <a:off x="2146250" y="2605087"/>
            <a:ext cx="342900" cy="457200"/>
          </a:xfrm>
          <a:prstGeom prst="rect">
            <a:avLst/>
          </a:prstGeom>
          <a:noFill/>
          <a:ln>
            <a:noFill/>
          </a:ln>
        </p:spPr>
      </p:pic>
      <p:pic>
        <p:nvPicPr>
          <p:cNvPr id="167" name="Google Shape;167;p18" descr="image.png"/>
          <p:cNvPicPr preferRelativeResize="0"/>
          <p:nvPr/>
        </p:nvPicPr>
        <p:blipFill rotWithShape="1">
          <a:blip r:embed="rId7">
            <a:alphaModFix/>
          </a:blip>
          <a:srcRect/>
          <a:stretch/>
        </p:blipFill>
        <p:spPr>
          <a:xfrm>
            <a:off x="5810250" y="2605087"/>
            <a:ext cx="571500" cy="457200"/>
          </a:xfrm>
          <a:prstGeom prst="rect">
            <a:avLst/>
          </a:prstGeom>
          <a:noFill/>
          <a:ln>
            <a:noFill/>
          </a:ln>
        </p:spPr>
      </p:pic>
      <p:pic>
        <p:nvPicPr>
          <p:cNvPr id="168" name="Google Shape;168;p18" descr="image.png"/>
          <p:cNvPicPr preferRelativeResize="0"/>
          <p:nvPr/>
        </p:nvPicPr>
        <p:blipFill rotWithShape="1">
          <a:blip r:embed="rId8">
            <a:alphaModFix/>
          </a:blip>
          <a:srcRect/>
          <a:stretch/>
        </p:blipFill>
        <p:spPr>
          <a:xfrm>
            <a:off x="9674274" y="2605087"/>
            <a:ext cx="400050"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2"/>
        <p:cNvGrpSpPr/>
        <p:nvPr/>
      </p:nvGrpSpPr>
      <p:grpSpPr>
        <a:xfrm>
          <a:off x="0" y="0"/>
          <a:ext cx="0" cy="0"/>
          <a:chOff x="0" y="0"/>
          <a:chExt cx="0" cy="0"/>
        </a:xfrm>
      </p:grpSpPr>
      <p:pic>
        <p:nvPicPr>
          <p:cNvPr id="173" name="Google Shape;173;p19" descr="image.png"/>
          <p:cNvPicPr preferRelativeResize="0"/>
          <p:nvPr/>
        </p:nvPicPr>
        <p:blipFill rotWithShape="1">
          <a:blip r:embed="rId3">
            <a:alphaModFix/>
          </a:blip>
          <a:srcRect/>
          <a:stretch/>
        </p:blipFill>
        <p:spPr>
          <a:xfrm>
            <a:off x="571500" y="1743075"/>
            <a:ext cx="11049000" cy="4591050"/>
          </a:xfrm>
          <a:prstGeom prst="rect">
            <a:avLst/>
          </a:prstGeom>
          <a:noFill/>
          <a:ln>
            <a:noFill/>
          </a:ln>
        </p:spPr>
      </p:pic>
      <p:sp>
        <p:nvSpPr>
          <p:cNvPr id="174" name="Google Shape;174;p19"/>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9"/>
          <p:cNvSpPr txBox="1"/>
          <p:nvPr/>
        </p:nvSpPr>
        <p:spPr>
          <a:xfrm>
            <a:off x="571500" y="600075"/>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Báo Cáo Tiến Độ Thực Hiện</a:t>
            </a:r>
            <a:endParaRPr/>
          </a:p>
        </p:txBody>
      </p:sp>
      <p:sp>
        <p:nvSpPr>
          <p:cNvPr id="176" name="Google Shape;176;p19"/>
          <p:cNvSpPr/>
          <p:nvPr/>
        </p:nvSpPr>
        <p:spPr>
          <a:xfrm>
            <a:off x="571500" y="1343025"/>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9"/>
          <p:cNvSpPr txBox="1"/>
          <p:nvPr/>
        </p:nvSpPr>
        <p:spPr>
          <a:xfrm>
            <a:off x="571500" y="583882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334155"/>
                </a:solidFill>
                <a:latin typeface="Inter"/>
                <a:ea typeface="Inter"/>
                <a:cs typeface="Inter"/>
                <a:sym typeface="Inter"/>
              </a:rPr>
              <a:t>Dự án đang trong giai đoạn hoàn thiện các tính năng nâng cao và tối ưu hóa trải nghiệm người dùng.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sp>
        <p:nvSpPr>
          <p:cNvPr id="182" name="Google Shape;182;p20"/>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20"/>
          <p:cNvSpPr txBox="1"/>
          <p:nvPr/>
        </p:nvSpPr>
        <p:spPr>
          <a:xfrm>
            <a:off x="571500" y="647700"/>
            <a:ext cx="1160145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64D"/>
                </a:solidFill>
                <a:latin typeface="Roboto Slab"/>
                <a:ea typeface="Roboto Slab"/>
                <a:cs typeface="Roboto Slab"/>
                <a:sym typeface="Roboto Slab"/>
              </a:rPr>
              <a:t>Kế Hoạch Phát Triển Tiếp Theo</a:t>
            </a:r>
            <a:endParaRPr/>
          </a:p>
        </p:txBody>
      </p:sp>
      <p:sp>
        <p:nvSpPr>
          <p:cNvPr id="184" name="Google Shape;184;p20"/>
          <p:cNvSpPr/>
          <p:nvPr/>
        </p:nvSpPr>
        <p:spPr>
          <a:xfrm>
            <a:off x="571500" y="1390650"/>
            <a:ext cx="11049000" cy="19050"/>
          </a:xfrm>
          <a:prstGeom prst="rect">
            <a:avLst/>
          </a:prstGeom>
          <a:solidFill>
            <a:srgbClr val="CCE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0"/>
          <p:cNvSpPr/>
          <p:nvPr/>
        </p:nvSpPr>
        <p:spPr>
          <a:xfrm>
            <a:off x="571500" y="3290887"/>
            <a:ext cx="11049000" cy="381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0"/>
          <p:cNvSpPr/>
          <p:nvPr/>
        </p:nvSpPr>
        <p:spPr>
          <a:xfrm>
            <a:off x="2019300" y="3100387"/>
            <a:ext cx="419100" cy="419100"/>
          </a:xfrm>
          <a:prstGeom prst="roundRect">
            <a:avLst>
              <a:gd name="adj" fmla="val 50000"/>
            </a:avLst>
          </a:prstGeom>
          <a:solidFill>
            <a:srgbClr val="00264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0"/>
          <p:cNvSpPr txBox="1"/>
          <p:nvPr/>
        </p:nvSpPr>
        <p:spPr>
          <a:xfrm>
            <a:off x="488632" y="3709987"/>
            <a:ext cx="3480435"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264D"/>
                </a:solidFill>
                <a:latin typeface="Roboto Slab"/>
                <a:ea typeface="Roboto Slab"/>
                <a:cs typeface="Roboto Slab"/>
                <a:sym typeface="Roboto Slab"/>
              </a:rPr>
              <a:t>Giai đoạn 1</a:t>
            </a:r>
            <a:endParaRPr/>
          </a:p>
        </p:txBody>
      </p:sp>
      <p:sp>
        <p:nvSpPr>
          <p:cNvPr id="188" name="Google Shape;188;p20"/>
          <p:cNvSpPr txBox="1"/>
          <p:nvPr/>
        </p:nvSpPr>
        <p:spPr>
          <a:xfrm>
            <a:off x="571500" y="4252912"/>
            <a:ext cx="33147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Tối ưu hóa độ trễ phản hồi (Latency) và hoàn thiện các công cụ (Tools) cho giao thức MCP.</a:t>
            </a:r>
            <a:endParaRPr/>
          </a:p>
        </p:txBody>
      </p:sp>
      <p:sp>
        <p:nvSpPr>
          <p:cNvPr id="189" name="Google Shape;189;p20"/>
          <p:cNvSpPr/>
          <p:nvPr/>
        </p:nvSpPr>
        <p:spPr>
          <a:xfrm>
            <a:off x="5886450" y="3100387"/>
            <a:ext cx="419100" cy="419100"/>
          </a:xfrm>
          <a:prstGeom prst="roundRect">
            <a:avLst>
              <a:gd name="adj" fmla="val 50000"/>
            </a:avLst>
          </a:prstGeom>
          <a:solidFill>
            <a:srgbClr val="00264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20"/>
          <p:cNvSpPr txBox="1"/>
          <p:nvPr/>
        </p:nvSpPr>
        <p:spPr>
          <a:xfrm>
            <a:off x="4355782" y="3709987"/>
            <a:ext cx="3480435"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264D"/>
                </a:solidFill>
                <a:latin typeface="Roboto Slab"/>
                <a:ea typeface="Roboto Slab"/>
                <a:cs typeface="Roboto Slab"/>
                <a:sym typeface="Roboto Slab"/>
              </a:rPr>
              <a:t>Giai đoạn 2</a:t>
            </a:r>
            <a:endParaRPr/>
          </a:p>
        </p:txBody>
      </p:sp>
      <p:sp>
        <p:nvSpPr>
          <p:cNvPr id="191" name="Google Shape;191;p20"/>
          <p:cNvSpPr txBox="1"/>
          <p:nvPr/>
        </p:nvSpPr>
        <p:spPr>
          <a:xfrm>
            <a:off x="4438650" y="4252912"/>
            <a:ext cx="33147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Tích hợp Camera (Computer Vision) để nhận diện người dùng và hỗ trợ giải bài tập qua hình ảnh.</a:t>
            </a:r>
            <a:endParaRPr/>
          </a:p>
        </p:txBody>
      </p:sp>
      <p:sp>
        <p:nvSpPr>
          <p:cNvPr id="192" name="Google Shape;192;p20"/>
          <p:cNvSpPr/>
          <p:nvPr/>
        </p:nvSpPr>
        <p:spPr>
          <a:xfrm>
            <a:off x="9753600" y="3100387"/>
            <a:ext cx="419100" cy="419100"/>
          </a:xfrm>
          <a:prstGeom prst="roundRect">
            <a:avLst>
              <a:gd name="adj" fmla="val 50000"/>
            </a:avLst>
          </a:prstGeom>
          <a:solidFill>
            <a:srgbClr val="00264D"/>
          </a:solidFill>
          <a:ln w="381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20"/>
          <p:cNvSpPr txBox="1"/>
          <p:nvPr/>
        </p:nvSpPr>
        <p:spPr>
          <a:xfrm>
            <a:off x="8222932" y="3709987"/>
            <a:ext cx="3480435"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264D"/>
                </a:solidFill>
                <a:latin typeface="Roboto Slab"/>
                <a:ea typeface="Roboto Slab"/>
                <a:cs typeface="Roboto Slab"/>
                <a:sym typeface="Roboto Slab"/>
              </a:rPr>
              <a:t>Giai đoạn 3</a:t>
            </a:r>
            <a:endParaRPr/>
          </a:p>
        </p:txBody>
      </p:sp>
      <p:sp>
        <p:nvSpPr>
          <p:cNvPr id="194" name="Google Shape;194;p20"/>
          <p:cNvSpPr txBox="1"/>
          <p:nvPr/>
        </p:nvSpPr>
        <p:spPr>
          <a:xfrm>
            <a:off x="8305800" y="4252912"/>
            <a:ext cx="33147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Đóng gói sản phẩm thương mại, triển khai thử nghiệm tại các phòng Lab và đơn vị đào tạo.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pic>
        <p:nvPicPr>
          <p:cNvPr id="199" name="Google Shape;199;p21" descr="image.png"/>
          <p:cNvPicPr preferRelativeResize="0"/>
          <p:nvPr/>
        </p:nvPicPr>
        <p:blipFill rotWithShape="1">
          <a:blip r:embed="rId3">
            <a:alphaModFix/>
          </a:blip>
          <a:srcRect/>
          <a:stretch/>
        </p:blipFill>
        <p:spPr>
          <a:xfrm>
            <a:off x="4230255" y="4226791"/>
            <a:ext cx="3731488" cy="800100"/>
          </a:xfrm>
          <a:prstGeom prst="rect">
            <a:avLst/>
          </a:prstGeom>
          <a:noFill/>
          <a:ln>
            <a:noFill/>
          </a:ln>
        </p:spPr>
      </p:pic>
      <p:sp>
        <p:nvSpPr>
          <p:cNvPr id="200" name="Google Shape;200;p21"/>
          <p:cNvSpPr/>
          <p:nvPr/>
        </p:nvSpPr>
        <p:spPr>
          <a:xfrm>
            <a:off x="0" y="0"/>
            <a:ext cx="12192000" cy="76200"/>
          </a:xfrm>
          <a:prstGeom prst="rect">
            <a:avLst/>
          </a:prstGeom>
          <a:solidFill>
            <a:srgbClr val="0026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1" name="Google Shape;201;p21"/>
          <p:cNvSpPr txBox="1"/>
          <p:nvPr/>
        </p:nvSpPr>
        <p:spPr>
          <a:xfrm>
            <a:off x="3430666" y="1981200"/>
            <a:ext cx="5330666" cy="1009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264D"/>
                </a:solidFill>
                <a:latin typeface="Roboto Slab"/>
                <a:ea typeface="Roboto Slab"/>
                <a:cs typeface="Roboto Slab"/>
                <a:sym typeface="Roboto Slab"/>
              </a:rPr>
              <a:t>Hỏi &amp; Đáp</a:t>
            </a:r>
            <a:endParaRPr/>
          </a:p>
        </p:txBody>
      </p:sp>
      <p:sp>
        <p:nvSpPr>
          <p:cNvPr id="202" name="Google Shape;202;p21"/>
          <p:cNvSpPr txBox="1"/>
          <p:nvPr/>
        </p:nvSpPr>
        <p:spPr>
          <a:xfrm>
            <a:off x="3557587" y="3181350"/>
            <a:ext cx="507682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Inter"/>
                <a:ea typeface="Inter"/>
                <a:cs typeface="Inter"/>
                <a:sym typeface="Inter"/>
              </a:rPr>
              <a:t>Xin cảm ơn sự theo dõi của Thủ trưởng và các đồng chí.</a:t>
            </a:r>
            <a:endParaRPr/>
          </a:p>
        </p:txBody>
      </p:sp>
      <p:sp>
        <p:nvSpPr>
          <p:cNvPr id="203" name="Google Shape;203;p21"/>
          <p:cNvSpPr txBox="1"/>
          <p:nvPr/>
        </p:nvSpPr>
        <p:spPr>
          <a:xfrm>
            <a:off x="3916219" y="4362450"/>
            <a:ext cx="4359562"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00264D"/>
                </a:solidFill>
                <a:latin typeface="Inter"/>
                <a:ea typeface="Inter"/>
                <a:cs typeface="Inter"/>
                <a:sym typeface="Inter"/>
              </a:rPr>
              <a:t>Thượng</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úy</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Cử</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nhân</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Lê</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Bá</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Đăng</a:t>
            </a:r>
            <a:r>
              <a:rPr lang="en-US" sz="1200" b="1" i="0" u="none" strike="noStrike" cap="none" dirty="0">
                <a:solidFill>
                  <a:srgbClr val="00264D"/>
                </a:solidFill>
                <a:latin typeface="Inter"/>
                <a:ea typeface="Inter"/>
                <a:cs typeface="Inter"/>
                <a:sym typeface="Inter"/>
              </a:rPr>
              <a:t> </a:t>
            </a:r>
            <a:r>
              <a:rPr lang="en-US" sz="1200" b="1" i="0" u="none" strike="noStrike" cap="none" dirty="0" err="1">
                <a:solidFill>
                  <a:srgbClr val="00264D"/>
                </a:solidFill>
                <a:latin typeface="Inter"/>
                <a:ea typeface="Inter"/>
                <a:cs typeface="Inter"/>
                <a:sym typeface="Inter"/>
              </a:rPr>
              <a:t>Hoàng</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643</Words>
  <Application>Microsoft Office PowerPoint</Application>
  <PresentationFormat>Widescreen</PresentationFormat>
  <Paragraphs>48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Roboto Slab</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Dang Hoang</cp:lastModifiedBy>
  <cp:revision>5</cp:revision>
  <dcterms:modified xsi:type="dcterms:W3CDTF">2026-01-28T07:49:18Z</dcterms:modified>
</cp:coreProperties>
</file>